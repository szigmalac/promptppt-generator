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Tisztelt Vezetőség! A mai prezentációban a Canon EOS R rendszer mérnöki és üzleti jelentőségét vizsgáljuk meg. Harminc év sikeres EF rendszer után a piac paradigmaváltást követel. Az EOS R nem csupán egy új kamera, hanem egy teljesen új, jövőtálló optikai ökoszisztéma[cite: 1208, 1221].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Bár az EF rendszer hosszú ideig iparági standard volt, a 44 milliméteres szenzortávolság fizikai határt szabott az aszférikus és nagy rekeszű lencsék integrálásának[cite: 1325, 1326]. Továbbá a meglévő nyolc érintkezős elektronikai sávszélesség nem képes kiszolgálni a legújabb hibrid fókuszrendszereket[cite: 1257].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lencsetervezés egy klasszikus 'trade-off' háromszögön alapul: méret, optikai minőség és funkcionalitás. Az új rendszer célja, hogy ennek a háromszögnek a területét megnövelje, ezáltal lehetővé téve kompromisszummentes megoldásokat, például magas fényerejű, de mégis hordozható zoom objektíveket[cite: 1271, 1281, 1299].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fizikai architektúra kulcsa a 20 mm-es Flange Back távolság. A mérnöki bravúr abban rejlik, hogy a hatalmas hátsó lencsetagok extrém közel kerülhetnek a szenzorhoz, ami szignifikánsan növeli a peremsötétedés és az aberrációk feletti kontrollt[cite: 1370]. A 12 pines csatoló jövőbiztos sávszélességet ad[cite: 1345].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hagyományos lencséknél a peremre érkező fénysugarak meredek beesési szöge komoly torzításokat (aberrációkat) okoz[cite: 1398, 1399]. A 20 mm-es bázistávolságnak köszönhetően a fénysugarak sokkal tompább szögben, kíméletesebben érkeznek az érzékelő síkjára, jelentősen növelve az MTF értékeket a kép sarkaiban[cite: 1412].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Az RF objektívek mikrokontrollerei önálló egységként működnek. Az elektronikus 'Focus-by-wire' rendszer és a dedikált Control Ring soha nem látott ergonómiai flexibilitást biztosít az operatőrök és fotósok számára[cite: 1430, 1451]. Külön kiemelendő a kikapcsoláskor fellépő rekesz-záródás, amely megvédi a nyitott szenzort a lézerektől vagy a közvetlen naptól[cite: 1445].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bemutatkozó lencsepark a bajonett határait demonstrálja. A 28-70-es F2-es zoom optikailag korábban lehetetlen volt ekkora méretben[cite: 1508]. A 24-105-ös modell az új vékonyított Nano USM motorjával pedig a videós produkciók professzionális igáslova[cite: 1864].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beruházásvédelem kritikus szempont a B2B piacon. A Canon nem cserbenhagyja, hanem feljavítja a meglévő EF objektívparkot[cite: 2153]. A Control Ring és a beépített Drop-In szűrős adapterek olyan funkcionalitást adnak a régi lencséknek, amikkel korábban nem rendelkeztek[cite: 2158, 2161].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hardveres szinergia itt éri el a csúcsot. A lencsébe épített dual giroszkóp adatai összeolvadnak a szenzor Dual Pixel fázis-eltolódásos méréseivel a DIGIC 8 processzorban[cite: 2209, 2210]. Ez az adatfúzió 5-tengelyes stabilizálást és pengeéles videós követőfókuszt tesz lehetővé[cite: 2226].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Digital Lens Optimizer a modern jelfeldolgozás csúcsa. Ismeri az adott lencse Point Spread Function (PSF) adatait, és hardveres szinten, késleltetés nélkül vonja ki a képletből az optikai tökéletlenségeket[cite: 2240, 2250]. Ezzel a mérnökeink elérték, hogy az alkotóknak ne kelljen tartaniuk a diffrakciótól lerekeszelt állapotban[cite: 2289].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1. Bevezetés a Canon EOS R Rendszerbe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 három évtizedes EOS történelem legújabb technológiai mérföldköve[cite: 1208, 1221].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Válasz az álló- és mozgóképkészítés határainak elmosódására[cite: 1210].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 tükör nélküli (mirrorless) technológia növekvő dominanciája[cite: 1214].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Kibővített optikai tervezési szabadság a jövő fejlesztéseihez[cite: 1215].</a:t>
            </a:r>
          </a:p>
        </p:txBody>
      </p:sp>
      <p:pic>
        <p:nvPicPr>
          <p:cNvPr id="4" name="Picture 3" descr="temp_img_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201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2. A Jelenlegi EF Rendszer Korlátai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Az 54 mm-es belső átmérő kiváló, de a 44 mm-es bázistávolság korlátozó tényező[cite: 1325, 1326].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Elégtelen adatátviteli sebesség a modern szenzorok igényeihez[cite: 1257].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Kommunikációs csatornák szűkössége az új operatív funkciókhoz[cite: 1258].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Korlátok a szenzoralapú autofókusz (AF) rendszerek maximalizálásában[cite: 1259].</a:t>
            </a:r>
          </a:p>
        </p:txBody>
      </p:sp>
      <p:pic>
        <p:nvPicPr>
          <p:cNvPr id="4" name="Picture 3" descr="temp_img_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1594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3. Az Ideális Optikai Rendszer Tervezési Modellje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Folyamatosan növekvő full-frame szenzor felbontás adaptációja[cite: 1273, 1274].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 dinamikatartomány és az expozíciós határok kitolása[cite: 1275].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 méret/súly, az optikai érzékenység és az operatív képességek optimális egyensúlya[cite: 1281].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Több paraméteres optimalizáció a kreatív kompromisszumok elkerüléséért[cite: 1299].</a:t>
            </a:r>
          </a:p>
        </p:txBody>
      </p:sp>
      <p:pic>
        <p:nvPicPr>
          <p:cNvPr id="4" name="Picture 3" descr="temp_img_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18842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4. Az Új RF Bajonett Architektúra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Megtartott 54 mm-es átmérő, mindössze 20 mm-es bázistávolsággal[cite: 1342, 1344].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12 pines elektronikus csatlakozó a robusztus adatátvitelért[cite: 1345, 1460].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Nagy átmérőjű hátsó lencsetagok elhelyezésének lehetősége[cite: 1370].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Optimalizált 3-füles bajonett rögzítés, megújult pozicionálással[cite: 1364, 1365].</a:t>
            </a:r>
          </a:p>
        </p:txBody>
      </p:sp>
      <p:pic>
        <p:nvPicPr>
          <p:cNvPr id="4" name="Picture 3" descr="temp_img_1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20545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5. Optikai Aberrációk Fizikai Kezelése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 rövid bázistávolság enyhébb fénytörési szöget tesz lehetővé a peremeken[cite: 1412].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Seidel-féle monokromatikus aberrációk (pl. kóma, asztigmatizmus) drasztikus csökkentése[cite: 1390, 1391].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Diszperziós és kromatikus eltérések szoftveres-hardveres korrekciója[cite: 1394, 1396].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Kiváló képélesség (MTF) a szenzor sarkaiban is[cite: 1400].</a:t>
            </a:r>
          </a:p>
        </p:txBody>
      </p:sp>
      <p:pic>
        <p:nvPicPr>
          <p:cNvPr id="4" name="Picture 3" descr="temp_img_1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4212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6. Forradalmi RF Objektív Koncepciók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Dedikált, programozható 'Control Ring' az expozíciós paraméterekhez[cite: 1430, 1431].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Fókuszgyűrű forgásirányának szoftveres megfordíthatósága[cite: 1450, 1456].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Mechanikus helyett nagyfelbontású elektronikus fókuszvezérlés (Focus-by-wire)[cite: 1451, 1453].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Automatikus rekesz-zárás áramtalanításkor a szenzor védelmében[cite: 1445].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7. Kiemelt RF Objektívek Teljesítménye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RF28-70mm F2 L USM: Példátlan fényerő egy teljes zoomtartományon[cite: 1478, 1508].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RF50mm F1.2 L USM: Kiemelkedő élesség aszférikus (ASC) bevonatokkal[cite: 1716, 1744].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RF24-105mm F4 L IS USM: Kompakt méret, csendes Nano USM motor videókhoz[cite: 1833, 1864].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RF35mm F1.8 MACRO: Kompakt széleslátószög, dedikált makró képességekkel[cite: 2043, 2046].</a:t>
            </a:r>
          </a:p>
        </p:txBody>
      </p:sp>
      <p:pic>
        <p:nvPicPr>
          <p:cNvPr id="4" name="Picture 3" descr="temp_img_16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56755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8. EF Visszafelé Kompatibilitás és Adapterek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Veszteségmentes kommunikáció a meglévő EF/EF-S objektívekkel[cite: 2153, 2156].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Standard EF-EOS R adapter a közvetlen mechanikai/elektronikai csatolásért[cite: 2156].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Vezérlőgyűrűs (Control Ring) adapter a funkciók EF lencsékre való kiterjesztéséhez[cite: 2158].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Belső szűrős (Drop-In Filter) adapter professzionális videósoknak (pl. V-ND)[cite: 2161, 2162].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9. Dual Pixel CMOS AF és Képstabilizálás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Fázisérzékelés dedikáltan, közvetlenül a szenzor fotodiódáin[cite: 2297, 2298].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DIGIC 8 processzor a valós idejű, masszív adatfeldolgozáshoz[cite: 2210].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Az objektív giroszkópja és a szenzor elmozdulás adatai szinkronizálnak[cite: 2209].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Kombinált (optikai és elektronikus) 5-tengelyes stabilizálás[cite: 2226].</a:t>
            </a:r>
          </a:p>
        </p:txBody>
      </p:sp>
      <p:pic>
        <p:nvPicPr>
          <p:cNvPr id="4" name="Picture 3" descr="temp_img_3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24982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latin typeface="Arial"/>
              </a:defRPr>
            </a:pPr>
            <a:r>
              <a:t>10. Digital Lens Optimizer (DLO) Szoftveres Motor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389120" cy="457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Hardveres szinten futó valós idejű lencsekorrekciós algoritmusok[cite: 2240].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Diffrakció és kumulatív aberrációk azonnali kompenzálása[cite: 2278, 2279].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A lencse teljes rekesztartománya kompromisszum nélkül használható[cite: 2289, 2290].</a:t>
            </a:r>
          </a:p>
          <a:p>
            <a:pPr>
              <a:spcAft>
                <a:spcPts val="1400"/>
              </a:spcAft>
              <a:defRPr sz="1800">
                <a:latin typeface="Calibri"/>
              </a:defRPr>
            </a:pPr>
            <a:r>
              <a:t>• Kiváló JPEG kimenet egyenesen a kamerából, csökkentett utómunka igény[cite: 2293].</a:t>
            </a:r>
          </a:p>
        </p:txBody>
      </p:sp>
      <p:pic>
        <p:nvPicPr>
          <p:cNvPr id="4" name="Picture 3" descr="temp_img_37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3040"/>
            <a:ext cx="3657600" cy="2068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