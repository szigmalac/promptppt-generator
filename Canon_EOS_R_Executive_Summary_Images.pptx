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Üdvözlöm önöket! A mai prezentációban áttekintjük a Canon EOS R rendszerének stratégiai és műszaki alapjait.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Bár az EF rendszer hatalmas siker volt, a jövőbeni igények új architektúrát követeltek.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12 aranyozott érintkező hatalmas adatsűrűséget biztosít, a rövid bázistávolság pedig új optikai tervezési szabadságot 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új RF rendszer lencsetagjai csökkentik a peremtorzítást, a DLO pedig beépített szoftveres motorral tökéletesíti a képet.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Control Ring ergonómiai áttörés, a fly-by-wire fókusz pedig zökkenőmentes videós átmeneteket garantál.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28-70-es f/2-es zoom megalkotása az EF rendszerben fizikai képtelenség lett volna ekkora méretben.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Ezek a lencsék rendkívül sokoldalúak, a Nano USM és az STM motorok pedig hangtalan és precíz fókuszálást tesznek lehetővé.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adapterek révén a több évtizedes EF objektívek még több funkciót kapnak, mint eredeti vázukon.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DIGIC 8 processzor valós időben dolgozza fel a lencse és a szenzor adatait az 5-tengelyes kompenzációhoz.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Canon EOS R rendszer évtizedekre biztosítja az alapot a legmagasabb szintű fotós és videós munkákhoz.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A Canon EOS R Rendszer: Új Korszak a Képalkotásban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389120" cy="0"/>
          </a:xfrm>
        </p:spPr>
        <p:txBody>
          <a:bodyPr wrap="square">
            <a:normAutofit/>
          </a:bodyPr>
          <a:lstStyle/>
          <a:p/>
          <a:p>
            <a:pPr>
              <a:defRPr sz="2000">
                <a:latin typeface="Calibri"/>
              </a:defRPr>
            </a:pPr>
            <a:r>
              <a:t>Célkitűzés: Az optikai teljesítmény és a kreatív működési rugalmasság maximalizálása a globális piacon.</a:t>
            </a:r>
          </a:p>
          <a:p>
            <a:pPr>
              <a:defRPr sz="2000">
                <a:latin typeface="Calibri"/>
              </a:defRPr>
            </a:pPr>
            <a:r>
              <a:t>Fókuszterület: Új generációs, full-frame tükör nélküli technológia bevezetése.</a:t>
            </a:r>
          </a:p>
          <a:p>
            <a:pPr>
              <a:defRPr sz="2000">
                <a:latin typeface="Calibri"/>
              </a:defRPr>
            </a:pPr>
            <a:r>
              <a:t>A Rendszer Lényege: Teljesen új tervezésű, innovatív RF bajonett architektúra.</a:t>
            </a:r>
          </a:p>
          <a:p>
            <a:pPr>
              <a:defRPr sz="2000">
                <a:latin typeface="Calibri"/>
              </a:defRPr>
            </a:pPr>
            <a:r>
              <a:t>Kompatibilitás: A meglévő EF és EF-S lencsék teljes körű támogatásának integrálása.</a:t>
            </a:r>
          </a:p>
        </p:txBody>
      </p:sp>
      <p:pic>
        <p:nvPicPr>
          <p:cNvPr id="4" name="Picture 3" descr="slide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840480" cy="49506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A Harmincéves EF Rendszer Korlátai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389120" cy="0"/>
          </a:xfrm>
        </p:spPr>
        <p:txBody>
          <a:bodyPr wrap="square">
            <a:normAutofit/>
          </a:bodyPr>
          <a:lstStyle/>
          <a:p/>
          <a:p>
            <a:pPr>
              <a:defRPr sz="2000">
                <a:latin typeface="Calibri"/>
              </a:defRPr>
            </a:pPr>
            <a:r>
              <a:t>Fizikai gátak: A hagyományos EF bajonett (54 mm átmérő, 44 mm távolság) elérte határait.</a:t>
            </a:r>
          </a:p>
          <a:p>
            <a:pPr>
              <a:defRPr sz="2000">
                <a:latin typeface="Calibri"/>
              </a:defRPr>
            </a:pPr>
            <a:r>
              <a:t>Adatátviteli sebesség: A 8-tűs elektronikus kapcsolat sávszélessége korlátozó tényező.</a:t>
            </a:r>
          </a:p>
          <a:p>
            <a:pPr>
              <a:defRPr sz="2000">
                <a:latin typeface="Calibri"/>
              </a:defRPr>
            </a:pPr>
            <a:r>
              <a:t>Fejlesztési limitációk: Kevés elektronikus csatorna az összetett operációs funkciókhoz.</a:t>
            </a:r>
          </a:p>
          <a:p>
            <a:pPr>
              <a:defRPr sz="2000">
                <a:latin typeface="Calibri"/>
              </a:defRPr>
            </a:pPr>
            <a:r>
              <a:t>Fókusz korlátok: Szűkös lehetőségek a modern szenzor-alapú autofókusz kiszolgálásában.</a:t>
            </a:r>
          </a:p>
        </p:txBody>
      </p:sp>
      <p:pic>
        <p:nvPicPr>
          <p:cNvPr id="4" name="Picture 3" descr="slide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840480" cy="49506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Az RF Bajonett Innovációja: A Fizika Újraírása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389120" cy="0"/>
          </a:xfrm>
        </p:spPr>
        <p:txBody>
          <a:bodyPr wrap="square">
            <a:normAutofit/>
          </a:bodyPr>
          <a:lstStyle/>
          <a:p/>
          <a:p>
            <a:pPr>
              <a:defRPr sz="2000">
                <a:latin typeface="Calibri"/>
              </a:defRPr>
            </a:pPr>
            <a:r>
              <a:t>Belső átmérő megőrzése: Az 54 mm-es átmérő megtartása az optimális fényáteresztésért.</a:t>
            </a:r>
          </a:p>
          <a:p>
            <a:pPr>
              <a:defRPr sz="2000">
                <a:latin typeface="Calibri"/>
              </a:defRPr>
            </a:pPr>
            <a:r>
              <a:t>Rövidített bázistávolság: A távolság 44 mm-ről mindössze 20 mm-re csökkent.</a:t>
            </a:r>
          </a:p>
          <a:p>
            <a:pPr>
              <a:defRPr sz="2000">
                <a:latin typeface="Calibri"/>
              </a:defRPr>
            </a:pPr>
            <a:r>
              <a:t>Növelt sávszélesség: 8 helyett 12 csatlakozó biztosítja a nagysebességű kommunikációt.</a:t>
            </a:r>
          </a:p>
          <a:p>
            <a:pPr>
              <a:defRPr sz="2000">
                <a:latin typeface="Calibri"/>
              </a:defRPr>
            </a:pPr>
            <a:r>
              <a:t>Tervezési szabadság: Nagy hátsó lencsetagok helyezhetők közvetlenül a szenzor elé.</a:t>
            </a:r>
          </a:p>
        </p:txBody>
      </p:sp>
      <p:pic>
        <p:nvPicPr>
          <p:cNvPr id="4" name="Picture 3" descr="slide_img_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840480" cy="21202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Optikai Aberrációk Kezelése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389120" cy="0"/>
          </a:xfrm>
        </p:spPr>
        <p:txBody>
          <a:bodyPr wrap="square">
            <a:normAutofit/>
          </a:bodyPr>
          <a:lstStyle/>
          <a:p/>
          <a:p>
            <a:pPr>
              <a:defRPr sz="2000">
                <a:latin typeface="Calibri"/>
              </a:defRPr>
            </a:pPr>
            <a:r>
              <a:t>Fénytörési kihívások: A fénytörés növelésével nőnek a kromatikus és monokromatikus képhibák.</a:t>
            </a:r>
          </a:p>
          <a:p>
            <a:pPr>
              <a:defRPr sz="2000">
                <a:latin typeface="Calibri"/>
              </a:defRPr>
            </a:pPr>
            <a:r>
              <a:t>Optikai megoldás: A nagy hátsó lencsék kíméletesebb szögben vetítik a fényt a szélekre.</a:t>
            </a:r>
          </a:p>
          <a:p>
            <a:pPr>
              <a:defRPr sz="2000">
                <a:latin typeface="Calibri"/>
              </a:defRPr>
            </a:pPr>
            <a:r>
              <a:t>Digital Lens Optimizer (DLO): Beépített képoptimalizáló szoftverrendszer a kamerában.</a:t>
            </a:r>
          </a:p>
          <a:p>
            <a:pPr>
              <a:defRPr sz="2000">
                <a:latin typeface="Calibri"/>
              </a:defRPr>
            </a:pPr>
            <a:r>
              <a:t>DLO Működése: RAW fájloknál valós időben korrigálja a diffrakciót és a képhibákat.</a:t>
            </a:r>
          </a:p>
        </p:txBody>
      </p:sp>
      <p:pic>
        <p:nvPicPr>
          <p:cNvPr id="4" name="Picture 3" descr="slide_img_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840480" cy="16744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Új Felhasználói Élmény az RF Lencséken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389120" cy="0"/>
          </a:xfrm>
        </p:spPr>
        <p:txBody>
          <a:bodyPr wrap="square">
            <a:normAutofit/>
          </a:bodyPr>
          <a:lstStyle/>
          <a:p/>
          <a:p>
            <a:pPr>
              <a:defRPr sz="2000">
                <a:latin typeface="Calibri"/>
              </a:defRPr>
            </a:pPr>
            <a:r>
              <a:t>Vezérlőgyűrű (Control Ring): Új, testreszabható gyűrű expozíciós beállításokhoz.</a:t>
            </a:r>
          </a:p>
          <a:p>
            <a:pPr>
              <a:defRPr sz="2000">
                <a:latin typeface="Calibri"/>
              </a:defRPr>
            </a:pPr>
            <a:r>
              <a:t>Változtatható fókusz-irány: A kézi élességállítás forgásiránya szoftveresen megfordítható.</a:t>
            </a:r>
          </a:p>
          <a:p>
            <a:pPr>
              <a:defRPr sz="2000">
                <a:latin typeface="Calibri"/>
              </a:defRPr>
            </a:pPr>
            <a:r>
              <a:t>Fly-by-wire fókuszálás: Nincs mechanikus kapcsolat, elektronikus jelek vezérlik a motort.</a:t>
            </a:r>
          </a:p>
          <a:p>
            <a:pPr>
              <a:defRPr sz="2000">
                <a:latin typeface="Calibri"/>
              </a:defRPr>
            </a:pPr>
            <a:r>
              <a:t>Szenzorvédelem: Kikapcsoláskor a rekeszlamellák védelmi célból automatikusan bezárulnak.</a:t>
            </a:r>
          </a:p>
        </p:txBody>
      </p:sp>
      <p:pic>
        <p:nvPicPr>
          <p:cNvPr id="4" name="Picture 3" descr="slide_img_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840480" cy="19604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Az Induló RF Lencsekínálat (1. Rész)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389120" cy="0"/>
          </a:xfrm>
        </p:spPr>
        <p:txBody>
          <a:bodyPr wrap="square">
            <a:normAutofit/>
          </a:bodyPr>
          <a:lstStyle/>
          <a:p/>
          <a:p>
            <a:pPr>
              <a:defRPr sz="2000">
                <a:latin typeface="Calibri"/>
              </a:defRPr>
            </a:pPr>
            <a:r>
              <a:t>RF28-70mm F2 L USM: Szabványos zoomobjektív egyedülálló, állandó f/2.0 fényerővel.</a:t>
            </a:r>
          </a:p>
          <a:p>
            <a:pPr>
              <a:defRPr sz="2000">
                <a:latin typeface="Calibri"/>
              </a:defRPr>
            </a:pPr>
            <a:r>
              <a:t>Méretbeli előny: Az új bajonett miatt a frontlencse része kompaktabb maradhatott.</a:t>
            </a:r>
          </a:p>
          <a:p>
            <a:pPr>
              <a:defRPr sz="2000">
                <a:latin typeface="Calibri"/>
              </a:defRPr>
            </a:pPr>
            <a:r>
              <a:t>RF50mm F1.2 L USM: Nagy átmérőjű fix objektív extrém f/1.2 rekeszértékkel.</a:t>
            </a:r>
          </a:p>
          <a:p>
            <a:pPr>
              <a:defRPr sz="2000">
                <a:latin typeface="Calibri"/>
              </a:defRPr>
            </a:pPr>
            <a:r>
              <a:t>Fejlett bevonatok: Air Sphere Coating technológia a becsillanások csökkentésére.</a:t>
            </a:r>
          </a:p>
        </p:txBody>
      </p:sp>
      <p:pic>
        <p:nvPicPr>
          <p:cNvPr id="4" name="Picture 3" descr="slide_img_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840480" cy="17073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Az Induló RF Lencsekínálat (2. Rész)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389120" cy="0"/>
          </a:xfrm>
        </p:spPr>
        <p:txBody>
          <a:bodyPr wrap="square">
            <a:normAutofit/>
          </a:bodyPr>
          <a:lstStyle/>
          <a:p/>
          <a:p>
            <a:pPr>
              <a:defRPr sz="2000">
                <a:latin typeface="Calibri"/>
              </a:defRPr>
            </a:pPr>
            <a:r>
              <a:t>RF24-105mm F4 L IS USM: Kompakt f/4-es zoom integrált képstabilizátorral.</a:t>
            </a:r>
          </a:p>
          <a:p>
            <a:pPr>
              <a:defRPr sz="2000">
                <a:latin typeface="Calibri"/>
              </a:defRPr>
            </a:pPr>
            <a:r>
              <a:t>Nano USM meghajtás: Vékony, gyors és néma ultrahangos fókuszmotor videózáshoz.</a:t>
            </a:r>
          </a:p>
          <a:p>
            <a:pPr>
              <a:defRPr sz="2000">
                <a:latin typeface="Calibri"/>
              </a:defRPr>
            </a:pPr>
            <a:r>
              <a:t>RF35mm F1.8 MACRO IS STM: Széles látószögű objektív 0.5x makró nagyítással.</a:t>
            </a:r>
          </a:p>
          <a:p>
            <a:pPr>
              <a:defRPr sz="2000">
                <a:latin typeface="Calibri"/>
              </a:defRPr>
            </a:pPr>
            <a:r>
              <a:t>Kompakt felépítés: Léptetőmotor (STM) gondoskodik a finom mozgásról.</a:t>
            </a:r>
          </a:p>
        </p:txBody>
      </p:sp>
      <p:pic>
        <p:nvPicPr>
          <p:cNvPr id="4" name="Picture 3" descr="slide_img_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840480" cy="19784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Rendszerkompatibilitás: EF Mount Adapterek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389120" cy="0"/>
          </a:xfrm>
        </p:spPr>
        <p:txBody>
          <a:bodyPr wrap="square">
            <a:normAutofit/>
          </a:bodyPr>
          <a:lstStyle/>
          <a:p/>
          <a:p>
            <a:pPr>
              <a:defRPr sz="2000">
                <a:latin typeface="Calibri"/>
              </a:defRPr>
            </a:pPr>
            <a:r>
              <a:t>Stratégiai integráció: A hatalmas EF/EF-S lencsekínálat zökkenőmentes átemelése.</a:t>
            </a:r>
          </a:p>
          <a:p>
            <a:pPr>
              <a:defRPr sz="2000">
                <a:latin typeface="Calibri"/>
              </a:defRPr>
            </a:pPr>
            <a:r>
              <a:t>Mount Adapter EF-EOS R: Alapmodell tökéletes fizikai/elektronikus csatlakoztatáshoz.</a:t>
            </a:r>
          </a:p>
          <a:p>
            <a:pPr>
              <a:defRPr sz="2000">
                <a:latin typeface="Calibri"/>
              </a:defRPr>
            </a:pPr>
            <a:r>
              <a:t>Control Ring Adapter: A régebbi EF lencséket is felruházza az expozíció-vezérlő gyűrűvel.</a:t>
            </a:r>
          </a:p>
          <a:p>
            <a:pPr>
              <a:defRPr sz="2000">
                <a:latin typeface="Calibri"/>
              </a:defRPr>
            </a:pPr>
            <a:r>
              <a:t>Drop-In Filter Adapter: Adapter beépített, cserélhető szűrő-nyílással (ND vagy Polár).</a:t>
            </a:r>
          </a:p>
        </p:txBody>
      </p:sp>
      <p:pic>
        <p:nvPicPr>
          <p:cNvPr id="4" name="Picture 3" descr="slide_img_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840480" cy="32257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Képstabilizáció és Dual Pixel CMOS 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389120" cy="0"/>
          </a:xfrm>
        </p:spPr>
        <p:txBody>
          <a:bodyPr wrap="square">
            <a:normAutofit/>
          </a:bodyPr>
          <a:lstStyle/>
          <a:p/>
          <a:p>
            <a:pPr>
              <a:defRPr sz="2000">
                <a:latin typeface="Calibri"/>
              </a:defRPr>
            </a:pPr>
            <a:r>
              <a:t>Interaktív Stabilizáció: Lencse giroszkóp és szenzor adatok közösen harcolnak a remegés ellen.</a:t>
            </a:r>
          </a:p>
          <a:p>
            <a:pPr>
              <a:defRPr sz="2000">
                <a:latin typeface="Calibri"/>
              </a:defRPr>
            </a:pPr>
            <a:r>
              <a:t>5-Tengelyes videós IS: Optikai és elektronikus stabilizáció öttengelyes kombinációja.</a:t>
            </a:r>
          </a:p>
          <a:p>
            <a:pPr>
              <a:defRPr sz="2000">
                <a:latin typeface="Calibri"/>
              </a:defRPr>
            </a:pPr>
            <a:r>
              <a:t>Dual Pixel fókusz: Minden szenzorpixelben két fotodióda végzi a fázisérzékelést.</a:t>
            </a:r>
          </a:p>
          <a:p>
            <a:pPr>
              <a:defRPr sz="2000">
                <a:latin typeface="Calibri"/>
              </a:defRPr>
            </a:pPr>
            <a:r>
              <a:t>Kiterjesztett lefedettség: A választható fókuszpontok a kép 88x100%-át lefedik.</a:t>
            </a:r>
          </a:p>
        </p:txBody>
      </p:sp>
      <p:pic>
        <p:nvPicPr>
          <p:cNvPr id="4" name="Picture 3" descr="slide_img_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840480" cy="38800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Összegzés: A Képalkotás Jövőjének Alapköve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389120" cy="0"/>
          </a:xfrm>
        </p:spPr>
        <p:txBody>
          <a:bodyPr wrap="square">
            <a:normAutofit/>
          </a:bodyPr>
          <a:lstStyle/>
          <a:p/>
          <a:p>
            <a:pPr>
              <a:defRPr sz="2000">
                <a:latin typeface="Calibri"/>
              </a:defRPr>
            </a:pPr>
            <a:r>
              <a:t>Mérnöki paradigmaváltás: Az RF rendszer lebontja az EF rendszer fizikai korlátait.</a:t>
            </a:r>
          </a:p>
          <a:p>
            <a:pPr>
              <a:defRPr sz="2000">
                <a:latin typeface="Calibri"/>
              </a:defRPr>
            </a:pPr>
            <a:r>
              <a:t>Szinergia: Tökéletes integráció optika, mechanika és digitális jelfeldolgozás között.</a:t>
            </a:r>
          </a:p>
          <a:p>
            <a:pPr>
              <a:defRPr sz="2000">
                <a:latin typeface="Calibri"/>
              </a:defRPr>
            </a:pPr>
            <a:r>
              <a:t>Kész a jövő kihívásaira: Potenciál növekvő felbontáshoz és extrém fényerő-igényekhez.</a:t>
            </a:r>
          </a:p>
          <a:p>
            <a:pPr>
              <a:defRPr sz="2000">
                <a:latin typeface="Calibri"/>
              </a:defRPr>
            </a:pPr>
            <a:r>
              <a:t>Kompakt forma: Jelentős méretcsökkenés a strukturális stabilitás csorbulása nélkül.</a:t>
            </a:r>
          </a:p>
        </p:txBody>
      </p:sp>
      <p:pic>
        <p:nvPicPr>
          <p:cNvPr id="4" name="Picture 3" descr="slide_img_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840480" cy="21572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